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6"/>
  </p:notesMasterIdLst>
  <p:sldIdLst>
    <p:sldId id="256" r:id="rId5"/>
    <p:sldId id="293" r:id="rId6"/>
    <p:sldId id="296" r:id="rId7"/>
    <p:sldId id="298" r:id="rId8"/>
    <p:sldId id="315" r:id="rId9"/>
    <p:sldId id="316" r:id="rId10"/>
    <p:sldId id="299" r:id="rId11"/>
    <p:sldId id="303" r:id="rId12"/>
    <p:sldId id="295" r:id="rId13"/>
    <p:sldId id="312" r:id="rId14"/>
    <p:sldId id="31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D85C2-21FF-2960-BFFC-456DA7B48C48}" v="2" dt="2026-10-16T13:55:44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T. MARJIA AKTER TRIPTI" userId="S::24-58478-2@student.aiub.edu::26e5fc1c-c407-41a4-bbb9-749820f41858" providerId="AD" clId="Web-{0BAC0C6C-8DC4-FFEE-3837-E6887273B61E}"/>
    <pc:docChg chg="addSld delSld">
      <pc:chgData name="MST. MARJIA AKTER TRIPTI" userId="S::24-58478-2@student.aiub.edu::26e5fc1c-c407-41a4-bbb9-749820f41858" providerId="AD" clId="Web-{0BAC0C6C-8DC4-FFEE-3837-E6887273B61E}" dt="2026-10-12T19:13:13.440" v="1"/>
      <pc:docMkLst>
        <pc:docMk/>
      </pc:docMkLst>
    </pc:docChg>
  </pc:docChgLst>
  <pc:docChgLst>
    <pc:chgData name="ZINIA RAUHAT TAHA" userId="S::24-58672-2@student.aiub.edu::660290c7-b146-4973-971a-af666746ee30" providerId="AD" clId="Web-{C46D85C2-21FF-2960-BFFC-456DA7B48C48}"/>
    <pc:docChg chg="addSld">
      <pc:chgData name="ZINIA RAUHAT TAHA" userId="S::24-58672-2@student.aiub.edu::660290c7-b146-4973-971a-af666746ee30" providerId="AD" clId="Web-{C46D85C2-21FF-2960-BFFC-456DA7B48C48}" dt="2026-10-16T13:55:44.583" v="1"/>
      <pc:docMkLst>
        <pc:docMk/>
      </pc:docMkLst>
      <pc:sldChg chg="new">
        <pc:chgData name="ZINIA RAUHAT TAHA" userId="S::24-58672-2@student.aiub.edu::660290c7-b146-4973-971a-af666746ee30" providerId="AD" clId="Web-{C46D85C2-21FF-2960-BFFC-456DA7B48C48}" dt="2026-10-16T13:55:43.880" v="0"/>
        <pc:sldMkLst>
          <pc:docMk/>
          <pc:sldMk cId="2753556208" sldId="315"/>
        </pc:sldMkLst>
      </pc:sldChg>
      <pc:sldChg chg="new">
        <pc:chgData name="ZINIA RAUHAT TAHA" userId="S::24-58672-2@student.aiub.edu::660290c7-b146-4973-971a-af666746ee30" providerId="AD" clId="Web-{C46D85C2-21FF-2960-BFFC-456DA7B48C48}" dt="2026-10-16T13:55:44.583" v="1"/>
        <pc:sldMkLst>
          <pc:docMk/>
          <pc:sldMk cId="1349335707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732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20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3112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350775" y="1005840"/>
            <a:ext cx="7329948" cy="17157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>
                <a:solidFill>
                  <a:srgbClr val="C00000"/>
                </a:solidFill>
              </a:rPr>
              <a:t>Chapter 2</a:t>
            </a:r>
            <a:br>
              <a:rPr lang="en-US">
                <a:solidFill>
                  <a:srgbClr val="C00000"/>
                </a:solidFill>
              </a:rPr>
            </a:b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software development process model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EC011A0-3B37-C8CB-8E9E-B58FD4C47D54}"/>
              </a:ext>
            </a:extLst>
          </p:cNvPr>
          <p:cNvGrpSpPr/>
          <p:nvPr/>
        </p:nvGrpSpPr>
        <p:grpSpPr>
          <a:xfrm>
            <a:off x="4471587" y="4672800"/>
            <a:ext cx="7237813" cy="1696591"/>
            <a:chOff x="4471587" y="4672800"/>
            <a:chExt cx="7237813" cy="1696591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48FEE76D-6A0A-4263-DA4E-775D530E9FC9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>
                  <a:solidFill>
                    <a:schemeClr val="tx1"/>
                  </a:solidFill>
                </a:rPr>
                <a:t> </a:t>
              </a:r>
              <a:endParaRPr lang="en-US" sz="2300" cap="none"/>
            </a:p>
          </p:txBody>
        </p:sp>
        <p:pic>
          <p:nvPicPr>
            <p:cNvPr id="6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19169CA4-B680-F956-B1E0-E68F741EB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158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11959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1186736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V-Model is an extension of the waterfall model and is based on an association of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This is a highly disciplined model, and the next phase starts only after the completion of the previous phase.</a:t>
            </a:r>
            <a:endParaRPr lang="en-GB" sz="20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1186736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2CC9-C8C9-3D58-5403-B8EDB247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011E-F65A-D254-63D0-B0CEB2FF6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C326C-2B20-641C-E2A1-2A6F27D8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5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A649-74E2-9E54-BC76-831AD8D2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C6A0-4B85-798E-42BE-2729848A1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7F465-2556-D4A8-3FCB-A0AB674E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35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Requirements are not precise, and the p</a:t>
            </a:r>
            <a:r>
              <a:rPr lang="en-GB" sz="2200"/>
              <a:t>rototype serves as a mechanism for identifying software requirements</a:t>
            </a:r>
            <a:endParaRPr lang="en-GB" sz="220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/>
              <a:t>System requirements ALWAYS evolve during a project, so process iteration is proper where earlier stages are reworked and is always part of the process for large systems</a:t>
            </a:r>
            <a:endParaRPr lang="en-GB" sz="22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111083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/>
              <a:t>Incremental 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Rather than </a:t>
            </a:r>
            <a:r>
              <a:rPr lang="en-US" sz="2000">
                <a:latin typeface="+mj-lt"/>
              </a:rPr>
              <a:t>delivering the system as a single delivery, development and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T</a:t>
            </a:r>
            <a:r>
              <a:rPr lang="en-US" sz="200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User requirements are prioritized, and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Once the development of an increment is started,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In the RAD model, the components or functions are </a:t>
            </a:r>
            <a:r>
              <a:rPr lang="en-US" sz="2000">
                <a:solidFill>
                  <a:srgbClr val="C00000"/>
                </a:solidFill>
              </a:rPr>
              <a:t>developed in parallel </a:t>
            </a:r>
            <a:r>
              <a:rPr lang="en-US" sz="200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/>
              <a:t>Delivers a fully functional system in </a:t>
            </a:r>
            <a:r>
              <a:rPr lang="en-GB" altLang="en-US" sz="2000">
                <a:solidFill>
                  <a:srgbClr val="C00000"/>
                </a:solidFill>
              </a:rPr>
              <a:t>90 days.</a:t>
            </a:r>
            <a:endParaRPr lang="en-US" sz="200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User Design </a:t>
            </a:r>
            <a:r>
              <a:rPr lang="en-GB" altLang="en-US" sz="200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Construction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Cutover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(testing, changeover to new system, user training)</a:t>
            </a:r>
            <a:endParaRPr lang="en-US" sz="2200" b="1"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6AE1918-5DC1-33C4-D039-FD09E7A1367D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Risk profile</a:t>
            </a:r>
            <a:endParaRPr lang="en-US">
              <a:latin typeface="Bell MT" pitchFamily="18" charset="0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C42164E-1977-47CA-2777-CA79DADB7066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92774A3-F2A4-AB91-7D52-62C0CD388926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F4A104629F4441807DE647AC83D14F" ma:contentTypeVersion="3" ma:contentTypeDescription="Create a new document." ma:contentTypeScope="" ma:versionID="f0bd282e2770a934b7432a2d6134d928">
  <xsd:schema xmlns:xsd="http://www.w3.org/2001/XMLSchema" xmlns:xs="http://www.w3.org/2001/XMLSchema" xmlns:p="http://schemas.microsoft.com/office/2006/metadata/properties" xmlns:ns2="53e9d264-fa16-44c6-832f-164c4ca5a293" targetNamespace="http://schemas.microsoft.com/office/2006/metadata/properties" ma:root="true" ma:fieldsID="a4085bad2026c6d90e830036407b3dfa" ns2:_="">
    <xsd:import namespace="53e9d264-fa16-44c6-832f-164c4ca5a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9d264-fa16-44c6-832f-164c4ca5a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787844-9A55-405A-BCA8-6CE7D217BFE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85AAF05-F4D5-4B1B-AC05-F3C8D9502A0F}">
  <ds:schemaRefs>
    <ds:schemaRef ds:uri="53e9d264-fa16-44c6-832f-164c4ca5a2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6FD9A73-B0B0-4D22-93D3-CF1DDDEB6D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Dividend</vt:lpstr>
      <vt:lpstr>PowerPoint Presentation</vt:lpstr>
      <vt:lpstr>Software process</vt:lpstr>
      <vt:lpstr>Waterfall model</vt:lpstr>
      <vt:lpstr>V - model</vt:lpstr>
      <vt:lpstr>PowerPoint Presentation</vt:lpstr>
      <vt:lpstr>PowerPoint Presentation</vt:lpstr>
      <vt:lpstr>Prototyping model</vt:lpstr>
      <vt:lpstr>Incremental development</vt:lpstr>
      <vt:lpstr>Rapid Application Development (RAD)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revision>3</cp:revision>
  <dcterms:created xsi:type="dcterms:W3CDTF">2019-05-13T08:37:20Z</dcterms:created>
  <dcterms:modified xsi:type="dcterms:W3CDTF">2026-10-16T13:55:47Z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0x01010024F4A104629F4441807DE647AC83D14F</vt:lpwstr>
  </property>
</Properties>
</file>